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dc64b0c24746e5" /><Relationship Type="http://schemas.openxmlformats.org/officeDocument/2006/relationships/extended-properties" Target="/docProps/app.xml" Id="Rdca7de12b02f451d" /><Relationship Type="http://schemas.openxmlformats.org/officeDocument/2006/relationships/officeDocument" Target="/ppt/presentation.xml" Id="R344734686f8a43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6d6fb99ab243a6"/>
  </p:sldMasterIdLst>
  <p:notesMasterIdLst>
    <p:notesMasterId xmlns:r="http://schemas.openxmlformats.org/officeDocument/2006/relationships" r:id="R7165603a07c5482c"/>
  </p:notesMasterIdLst>
  <p:sldIdLst>
    <p:sldId xmlns:r="http://schemas.openxmlformats.org/officeDocument/2006/relationships" id="256" r:id="R1e0c31f3251c4e35"/>
    <p:sldId xmlns:r="http://schemas.openxmlformats.org/officeDocument/2006/relationships" id="257" r:id="R5c55333df299495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43271b3aa34dc7" /><Relationship Type="http://schemas.openxmlformats.org/officeDocument/2006/relationships/slideMaster" Target="/ppt/slideMasters/slideMaster1.xml" Id="R8d6d6fb99ab243a6" /><Relationship Type="http://schemas.openxmlformats.org/officeDocument/2006/relationships/notesMaster" Target="/ppt/notesMasters/notesMaster1.xml" Id="R7165603a07c5482c" /><Relationship Type="http://schemas.openxmlformats.org/officeDocument/2006/relationships/presProps" Target="/ppt/presProps.xml" Id="R372e49d02bb6493a" /><Relationship Type="http://schemas.openxmlformats.org/officeDocument/2006/relationships/tableStyles" Target="/ppt/tableStyles.xml" Id="Raa0b34ffbd24475d" /><Relationship Type="http://schemas.openxmlformats.org/officeDocument/2006/relationships/slide" Target="/ppt/slides/slide1.xml" Id="R1e0c31f3251c4e35" /><Relationship Type="http://schemas.openxmlformats.org/officeDocument/2006/relationships/slide" Target="/ppt/slides/slide2.xml" Id="R5c55333df29949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d7491b0aaa42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21391d5ec1412f" /><Relationship Type="http://schemas.openxmlformats.org/officeDocument/2006/relationships/notesMaster" Target="/ppt/notesMasters/notesMaster1.xml" Id="Rebf43c520f194c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84b6b3a77f4cdc" /><Relationship Type="http://schemas.openxmlformats.org/officeDocument/2006/relationships/notesMaster" Target="/ppt/notesMasters/notesMaster1.xml" Id="Rc15f8a9a6a704d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项目介绍，第1页。数据来源：TOPIC.md；hypothesis_4/benchmark_curves.json 中 weekly_category_matrix；paper/manuscript/manuscript.accepted.md 的实验设计；hypothesis_4/experiment_1/runs/anchored_v1/README.md。原始表52,736条，剔除20条存疑记录后有效编码记录52,716条。图表按五类有效内容归一化，排除爬取噪音；只画教育、悼念、玩梗三条线，未画营销与其他，不应将图中三类当作全部。W13悼念4714/(11394-594)=43.65%；W19玩梗139/(1792-171)=8.58%；W22玩梗3220/(5338-230)=63.04%。研究以张雪峰逝后舆论场为案例，介绍以用户提供的研究材料为据。LLM只负责达到门槛后的具体表达；是否发言由U与门槛决定。三臂差异是完整信息流制度，候选池与时序也不同，不能称为纯排序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ypothesis_4/experiment_1/runs/anchored_v1/_derived/data/arm/arm_weekly_summary.csv；arm_dtw_fit_summary.csv；_derived/charts/report_composites/figure_04_dtw_reproduction_and_fit.json；hypothesis_4/experiment_1/results/numerical_ablation_drb/RESULTS.md；paper/manuscript/manuscript.accepted.md。折线为Agent-only供给份额，排除了注入帖分母，但仿真行为受到真实注入信息流驱动，因此不是无外源输入的独立生成验证。W22总体玩梗曝光时序0.712，兴趣0.59933；玩梗型Agent发言率兴趣0.91228，时序0.82456，发言率分母为19名玩梗型Agent。DTW基于五类内容份额、欧氏局部距离、±1周窗口并按路径长度归一化，以百分点尺度报告；3 seeds不足以支持统计显著性。消融为共享机制的数值代理，4条件×100配对seed，没有运行LLM。去B后期发言率差95% Monte Carlo CI [-12.5,-11.5] pp；去D玩梗发言率差[-71.2,-69.5] pp；去R中期全体发言率差[42.7,43.6] pp。这些区间只反映仿真随机性，不是现实总体误差。工作区pipeline仍处于analysis in_progress；正文已有作者稿，但不把分析阶段标记为已完成。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536ad0ecdb48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73fdb944f54220" /><Relationship Type="http://schemas.openxmlformats.org/officeDocument/2006/relationships/slideLayout" Target="/ppt/slideLayouts/slideLayout1.xml" Id="R6f13a719de4a4b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13a719de4a4b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7a49710ef43b8" /><Relationship Type="http://schemas.openxmlformats.org/officeDocument/2006/relationships/chart" Target="/ppt/slides/charts/chart1.xml" Id="R971426658f3248c5" /><Relationship Type="http://schemas.openxmlformats.org/officeDocument/2006/relationships/notesSlide" Target="/ppt/notesSlides/notesSlide1.xml" Id="R1da49dec749540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f8b0bac0f41d9" /><Relationship Type="http://schemas.openxmlformats.org/officeDocument/2006/relationships/chart" Target="/ppt/slides/charts/chart2.xml" Id="R602b53866d2d47dd" /><Relationship Type="http://schemas.openxmlformats.org/officeDocument/2006/relationships/notesSlide" Target="/ppt/notesSlides/notesSlide2.xml" Id="Rebcc2f527029400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教育</c:v>
          </c:tx>
          <c:spPr>
            <a:ln xmlns:a="http://schemas.openxmlformats.org/drawingml/2006/main" w="28575">
              <a:solidFill>
                <a:srgbClr val="999999"/>
              </a:solidFill>
              <a:prstDash val="solid"/>
            </a:ln>
          </c:spPr>
          <c:marker>
            <c:symbol val="square"/>
            <c:size val="6"/>
            <c:spPr>
              <a:solidFill xmlns:a="http://schemas.openxmlformats.org/drawingml/2006/main">
                <a:srgbClr val="999999"/>
              </a:solidFill>
            </c:spPr>
          </c:marker>
          <c:cat>
            <c:strRef>
              <c:f>'Chart Data'!$A$2:$A$12</c:f>
              <c:strCache>
                <c:ptCount val="11"/>
                <c:pt idx="0">
                  <c:v>W12</c:v>
                </c:pt>
                <c:pt idx="1">
                  <c:v>W13</c:v>
                </c:pt>
                <c:pt idx="2">
                  <c:v>W14</c:v>
                </c:pt>
                <c:pt idx="3">
                  <c:v>W15</c:v>
                </c:pt>
                <c:pt idx="4">
                  <c:v>W16</c:v>
                </c:pt>
                <c:pt idx="5">
                  <c:v>W17</c:v>
                </c:pt>
                <c:pt idx="6">
                  <c:v>W18</c:v>
                </c:pt>
                <c:pt idx="7">
                  <c:v>W19</c:v>
                </c:pt>
                <c:pt idx="8">
                  <c:v>W20</c:v>
                </c:pt>
                <c:pt idx="9">
                  <c:v>W21</c:v>
                </c:pt>
                <c:pt idx="10">
                  <c:v>W22</c:v>
                </c:pt>
              </c:strCache>
            </c:strRef>
          </c:cat>
          <c:val>
            <c:numRef>
              <c:f>'Chart Data'!$B$2:$B$12</c:f>
              <c:numCache>
                <c:formatCode>0%</c:formatCode>
                <c:ptCount val="11"/>
                <c:pt idx="0">
                  <c:v>0.12356575</c:v>
                </c:pt>
                <c:pt idx="1">
                  <c:v>0.12416667</c:v>
                </c:pt>
                <c:pt idx="2">
                  <c:v>0.20118046</c:v>
                </c:pt>
                <c:pt idx="3">
                  <c:v>0.25953529</c:v>
                </c:pt>
                <c:pt idx="4">
                  <c:v>0.26641041</c:v>
                </c:pt>
                <c:pt idx="5">
                  <c:v>0.22349177</c:v>
                </c:pt>
                <c:pt idx="6">
                  <c:v>0.20870679</c:v>
                </c:pt>
                <c:pt idx="7">
                  <c:v>0.22640345</c:v>
                </c:pt>
                <c:pt idx="8">
                  <c:v>0.149851</c:v>
                </c:pt>
                <c:pt idx="9">
                  <c:v>0.08428642</c:v>
                </c:pt>
                <c:pt idx="10">
                  <c:v>0.07419734</c:v>
                </c:pt>
              </c:numCache>
            </c:numRef>
          </c:val>
          <c:smooth val="0"/>
        </c:ser>
        <c:ser>
          <c:idx val="1"/>
          <c:order val="1"/>
          <c:tx>
            <c:v>悼念</c:v>
          </c:tx>
          <c:spPr>
            <a:ln xmlns:a="http://schemas.openxmlformats.org/drawingml/2006/main" w="28575">
              <a:solidFill>
                <a:srgbClr val="5E5E5E"/>
              </a:solidFill>
              <a:prstDash val="dash"/>
            </a:ln>
          </c:spPr>
          <c:marker>
            <c:symbol val="diamond"/>
            <c:size val="6"/>
            <c:spPr>
              <a:solidFill xmlns:a="http://schemas.openxmlformats.org/drawingml/2006/main">
                <a:srgbClr val="5E5E5E"/>
              </a:solidFill>
            </c:spPr>
          </c:marker>
          <c:cat>
            <c:strRef>
              <c:f>'Chart Data'!$C$2:$C$12</c:f>
              <c:strCache>
                <c:ptCount val="11"/>
                <c:pt idx="0">
                  <c:v>W12</c:v>
                </c:pt>
                <c:pt idx="1">
                  <c:v>W13</c:v>
                </c:pt>
                <c:pt idx="2">
                  <c:v>W14</c:v>
                </c:pt>
                <c:pt idx="3">
                  <c:v>W15</c:v>
                </c:pt>
                <c:pt idx="4">
                  <c:v>W16</c:v>
                </c:pt>
                <c:pt idx="5">
                  <c:v>W17</c:v>
                </c:pt>
                <c:pt idx="6">
                  <c:v>W18</c:v>
                </c:pt>
                <c:pt idx="7">
                  <c:v>W19</c:v>
                </c:pt>
                <c:pt idx="8">
                  <c:v>W20</c:v>
                </c:pt>
                <c:pt idx="9">
                  <c:v>W21</c:v>
                </c:pt>
                <c:pt idx="10">
                  <c:v>W22</c:v>
                </c:pt>
              </c:strCache>
            </c:strRef>
          </c:cat>
          <c:val>
            <c:numRef>
              <c:f>'Chart Data'!$D$2:$D$12</c:f>
              <c:numCache>
                <c:formatCode>0%</c:formatCode>
                <c:ptCount val="11"/>
                <c:pt idx="0">
                  <c:v>0</c:v>
                </c:pt>
                <c:pt idx="1">
                  <c:v>0.43648148</c:v>
                </c:pt>
                <c:pt idx="2">
                  <c:v>0.18171543</c:v>
                </c:pt>
                <c:pt idx="3">
                  <c:v>0.16133275</c:v>
                </c:pt>
                <c:pt idx="4">
                  <c:v>0.14665878</c:v>
                </c:pt>
                <c:pt idx="5">
                  <c:v>0.12934186</c:v>
                </c:pt>
                <c:pt idx="6">
                  <c:v>0.10115237</c:v>
                </c:pt>
                <c:pt idx="7">
                  <c:v>0.08574954</c:v>
                </c:pt>
                <c:pt idx="8">
                  <c:v>0.07577693</c:v>
                </c:pt>
                <c:pt idx="9">
                  <c:v>0.111636</c:v>
                </c:pt>
                <c:pt idx="10">
                  <c:v>0.07282694</c:v>
                </c:pt>
              </c:numCache>
            </c:numRef>
          </c:val>
          <c:smooth val="0"/>
        </c:ser>
        <c:ser>
          <c:idx val="2"/>
          <c:order val="2"/>
          <c:tx>
            <c:v>玩梗</c:v>
          </c:tx>
          <c:spPr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11111"/>
              </a:solidFill>
            </c:spPr>
          </c:marker>
          <c:cat>
            <c:strRef>
              <c:f>'Chart Data'!$E$2:$E$12</c:f>
              <c:strCache>
                <c:ptCount val="11"/>
                <c:pt idx="0">
                  <c:v>W12</c:v>
                </c:pt>
                <c:pt idx="1">
                  <c:v>W13</c:v>
                </c:pt>
                <c:pt idx="2">
                  <c:v>W14</c:v>
                </c:pt>
                <c:pt idx="3">
                  <c:v>W15</c:v>
                </c:pt>
                <c:pt idx="4">
                  <c:v>W16</c:v>
                </c:pt>
                <c:pt idx="5">
                  <c:v>W17</c:v>
                </c:pt>
                <c:pt idx="6">
                  <c:v>W18</c:v>
                </c:pt>
                <c:pt idx="7">
                  <c:v>W19</c:v>
                </c:pt>
                <c:pt idx="8">
                  <c:v>W20</c:v>
                </c:pt>
                <c:pt idx="9">
                  <c:v>W21</c:v>
                </c:pt>
                <c:pt idx="10">
                  <c:v>W22</c:v>
                </c:pt>
              </c:strCache>
            </c:strRef>
          </c:cat>
          <c:val>
            <c:numRef>
              <c:f>'Chart Data'!$F$2:$F$12</c:f>
              <c:numCache>
                <c:formatCode>0%</c:formatCode>
                <c:ptCount val="11"/>
                <c:pt idx="0">
                  <c:v>0</c:v>
                </c:pt>
                <c:pt idx="1">
                  <c:v>0.01351852</c:v>
                </c:pt>
                <c:pt idx="2">
                  <c:v>0.01858596</c:v>
                </c:pt>
                <c:pt idx="3">
                  <c:v>0.0313459</c:v>
                </c:pt>
                <c:pt idx="4">
                  <c:v>0.02276759</c:v>
                </c:pt>
                <c:pt idx="5">
                  <c:v>0.023766</c:v>
                </c:pt>
                <c:pt idx="6">
                  <c:v>0.02816901</c:v>
                </c:pt>
                <c:pt idx="7">
                  <c:v>0.08574954</c:v>
                </c:pt>
                <c:pt idx="8">
                  <c:v>0.34738186</c:v>
                </c:pt>
                <c:pt idx="9">
                  <c:v>0.58801591</c:v>
                </c:pt>
                <c:pt idx="10">
                  <c:v>0.63038371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2929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4E4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61616"/>
              </a:solidFill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现实</c:v>
          </c:tx>
          <c:spPr>
            <a:ln xmlns:a="http://schemas.openxmlformats.org/drawingml/2006/main" w="28575">
              <a:solidFill>
                <a:srgbClr val="111111"/>
              </a:solidFill>
              <a:prstDash val="dash"/>
            </a:ln>
          </c:spPr>
          <c:marker>
            <c:symbol val="diamond"/>
            <c:size val="6"/>
            <c:spPr>
              <a:solidFill xmlns:a="http://schemas.openxmlformats.org/drawingml/2006/main">
                <a:srgbClr val="111111"/>
              </a:solidFill>
            </c:spPr>
          </c:marker>
          <c:cat>
            <c:strRef>
              <c:f>'Chart Data'!$A$2:$A$12</c:f>
              <c:strCache>
                <c:ptCount val="11"/>
                <c:pt idx="0">
                  <c:v>W12</c:v>
                </c:pt>
                <c:pt idx="1">
                  <c:v>W13</c:v>
                </c:pt>
                <c:pt idx="2">
                  <c:v>W14</c:v>
                </c:pt>
                <c:pt idx="3">
                  <c:v>W15</c:v>
                </c:pt>
                <c:pt idx="4">
                  <c:v>W16</c:v>
                </c:pt>
                <c:pt idx="5">
                  <c:v>W17</c:v>
                </c:pt>
                <c:pt idx="6">
                  <c:v>W18</c:v>
                </c:pt>
                <c:pt idx="7">
                  <c:v>W19</c:v>
                </c:pt>
                <c:pt idx="8">
                  <c:v>W20</c:v>
                </c:pt>
                <c:pt idx="9">
                  <c:v>W21</c:v>
                </c:pt>
                <c:pt idx="10">
                  <c:v>W22</c:v>
                </c:pt>
              </c:strCache>
            </c:strRef>
          </c:cat>
          <c:val>
            <c:numRef>
              <c:f>'Chart Data'!$B$2:$B$12</c:f>
              <c:numCache>
                <c:formatCode>0%</c:formatCode>
                <c:ptCount val="11"/>
                <c:pt idx="0">
                  <c:v>0</c:v>
                </c:pt>
                <c:pt idx="1">
                  <c:v>0.01351852</c:v>
                </c:pt>
                <c:pt idx="2">
                  <c:v>0.01858596</c:v>
                </c:pt>
                <c:pt idx="3">
                  <c:v>0.0313459</c:v>
                </c:pt>
                <c:pt idx="4">
                  <c:v>0.02276759</c:v>
                </c:pt>
                <c:pt idx="5">
                  <c:v>0.023766</c:v>
                </c:pt>
                <c:pt idx="6">
                  <c:v>0.02816901</c:v>
                </c:pt>
                <c:pt idx="7">
                  <c:v>0.08574954</c:v>
                </c:pt>
                <c:pt idx="8">
                  <c:v>0.34738186</c:v>
                </c:pt>
                <c:pt idx="9">
                  <c:v>0.58801591</c:v>
                </c:pt>
                <c:pt idx="10">
                  <c:v>0.63038371</c:v>
                </c:pt>
              </c:numCache>
            </c:numRef>
          </c:val>
          <c:smooth val="0"/>
        </c:ser>
        <c:ser>
          <c:idx val="1"/>
          <c:order val="1"/>
          <c:tx>
            <c:v>随机</c:v>
          </c:tx>
          <c:spPr>
            <a:ln xmlns:a="http://schemas.openxmlformats.org/drawingml/2006/main" w="28575">
              <a:solidFill>
                <a:srgbClr val="B0B0B0"/>
              </a:solidFill>
              <a:prstDash val="solid"/>
            </a:ln>
          </c:spPr>
          <c:marker>
            <c:symbol val="square"/>
            <c:size val="6"/>
            <c:spPr>
              <a:solidFill xmlns:a="http://schemas.openxmlformats.org/drawingml/2006/main">
                <a:srgbClr val="B0B0B0"/>
              </a:solidFill>
            </c:spPr>
          </c:marker>
          <c:cat>
            <c:strRef>
              <c:f>'Chart Data'!$C$2:$C$12</c:f>
              <c:strCache>
                <c:ptCount val="11"/>
                <c:pt idx="0">
                  <c:v>W12</c:v>
                </c:pt>
                <c:pt idx="1">
                  <c:v>W13</c:v>
                </c:pt>
                <c:pt idx="2">
                  <c:v>W14</c:v>
                </c:pt>
                <c:pt idx="3">
                  <c:v>W15</c:v>
                </c:pt>
                <c:pt idx="4">
                  <c:v>W16</c:v>
                </c:pt>
                <c:pt idx="5">
                  <c:v>W17</c:v>
                </c:pt>
                <c:pt idx="6">
                  <c:v>W18</c:v>
                </c:pt>
                <c:pt idx="7">
                  <c:v>W19</c:v>
                </c:pt>
                <c:pt idx="8">
                  <c:v>W20</c:v>
                </c:pt>
                <c:pt idx="9">
                  <c:v>W21</c:v>
                </c:pt>
                <c:pt idx="10">
                  <c:v>W22</c:v>
                </c:pt>
              </c:strCache>
            </c:strRef>
          </c:cat>
          <c:val>
            <c:numRef>
              <c:f>'Chart Data'!$D$2:$D$12</c:f>
              <c:numCache>
                <c:formatCode>0%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0.04166667</c:v>
                </c:pt>
                <c:pt idx="9">
                  <c:v>0.28888889</c:v>
                </c:pt>
                <c:pt idx="10">
                  <c:v>0.44285714</c:v>
                </c:pt>
              </c:numCache>
            </c:numRef>
          </c:val>
          <c:smooth val="0"/>
        </c:ser>
        <c:ser>
          <c:idx val="2"/>
          <c:order val="2"/>
          <c:tx>
            <c:v>时序</c:v>
          </c:tx>
          <c:spPr>
            <a:ln xmlns:a="http://schemas.openxmlformats.org/drawingml/2006/main" w="28575">
              <a:solidFill>
                <a:srgbClr val="777777"/>
              </a:solidFill>
              <a:prstDash val="solid"/>
            </a:ln>
          </c:spPr>
          <c:marker>
            <c:symbol val="triangle"/>
            <c:size val="6"/>
            <c:spPr>
              <a:solidFill xmlns:a="http://schemas.openxmlformats.org/drawingml/2006/main">
                <a:srgbClr val="777777"/>
              </a:solidFill>
            </c:spPr>
          </c:marker>
          <c:cat>
            <c:strRef>
              <c:f>'Chart Data'!$E$2:$E$12</c:f>
              <c:strCache>
                <c:ptCount val="11"/>
                <c:pt idx="0">
                  <c:v>W12</c:v>
                </c:pt>
                <c:pt idx="1">
                  <c:v>W13</c:v>
                </c:pt>
                <c:pt idx="2">
                  <c:v>W14</c:v>
                </c:pt>
                <c:pt idx="3">
                  <c:v>W15</c:v>
                </c:pt>
                <c:pt idx="4">
                  <c:v>W16</c:v>
                </c:pt>
                <c:pt idx="5">
                  <c:v>W17</c:v>
                </c:pt>
                <c:pt idx="6">
                  <c:v>W18</c:v>
                </c:pt>
                <c:pt idx="7">
                  <c:v>W19</c:v>
                </c:pt>
                <c:pt idx="8">
                  <c:v>W20</c:v>
                </c:pt>
                <c:pt idx="9">
                  <c:v>W21</c:v>
                </c:pt>
                <c:pt idx="10">
                  <c:v>W22</c:v>
                </c:pt>
              </c:strCache>
            </c:strRef>
          </c:cat>
          <c:val>
            <c:numRef>
              <c:f>'Chart Data'!$F$2:$F$12</c:f>
              <c:numCache>
                <c:formatCode>0%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0.66886447</c:v>
                </c:pt>
                <c:pt idx="9">
                  <c:v>0.86363636</c:v>
                </c:pt>
                <c:pt idx="10">
                  <c:v>0.83918129</c:v>
                </c:pt>
              </c:numCache>
            </c:numRef>
          </c:val>
          <c:smooth val="0"/>
        </c:ser>
        <c:ser>
          <c:idx val="3"/>
          <c:order val="3"/>
          <c:tx>
            <c:v>兴趣</c:v>
          </c:tx>
          <c:spPr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11111"/>
              </a:solidFill>
            </c:spPr>
          </c:marker>
          <c:cat>
            <c:strRef>
              <c:f>'Chart Data'!$G$2:$G$12</c:f>
              <c:strCache>
                <c:ptCount val="11"/>
                <c:pt idx="0">
                  <c:v>W12</c:v>
                </c:pt>
                <c:pt idx="1">
                  <c:v>W13</c:v>
                </c:pt>
                <c:pt idx="2">
                  <c:v>W14</c:v>
                </c:pt>
                <c:pt idx="3">
                  <c:v>W15</c:v>
                </c:pt>
                <c:pt idx="4">
                  <c:v>W16</c:v>
                </c:pt>
                <c:pt idx="5">
                  <c:v>W17</c:v>
                </c:pt>
                <c:pt idx="6">
                  <c:v>W18</c:v>
                </c:pt>
                <c:pt idx="7">
                  <c:v>W19</c:v>
                </c:pt>
                <c:pt idx="8">
                  <c:v>W20</c:v>
                </c:pt>
                <c:pt idx="9">
                  <c:v>W21</c:v>
                </c:pt>
                <c:pt idx="10">
                  <c:v>W22</c:v>
                </c:pt>
              </c:strCache>
            </c:strRef>
          </c:cat>
          <c:val>
            <c:numRef>
              <c:f>'Chart Data'!$H$2:$H$12</c:f>
              <c:numCache>
                <c:formatCode>0%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0.05</c:v>
                </c:pt>
                <c:pt idx="5">
                  <c:v>0.0462963</c:v>
                </c:pt>
                <c:pt idx="6">
                  <c:v>0</c:v>
                </c:pt>
                <c:pt idx="7">
                  <c:v>0.04761905</c:v>
                </c:pt>
                <c:pt idx="8">
                  <c:v>0.70873016</c:v>
                </c:pt>
                <c:pt idx="9">
                  <c:v>0.83860343</c:v>
                </c:pt>
                <c:pt idx="10">
                  <c:v>0.83888889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2929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4E4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61616"/>
              </a:solidFill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31B77-0B9C-468E-8609-347140E9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402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悼念退潮之后：算法策展与逝者数字表征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0EC7E-08C4-443C-99C4-291F237D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研究问题：平台如何通过“谁看见什么”，改变既有群体的发声权重与公共记忆？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C9B42-FB84-4E30-9837-2F073099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8096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01 /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FA4C8-CA96-44EB-8E09-598D09B7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经验事实｜三平台帖文中的表征转移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0F2CF-3123-4C13-B38C-3CACD7EE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张雪峰案例 · 抖音 / 微博 / 小红书 · 52,716 条有效记录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52450" y="2705100"/>
          <a:ext xmlns:a="http://schemas.openxmlformats.org/drawingml/2006/main" cx="6943725" cy="2647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1426658f3248c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311D4-960B-42CC-A3C4-D680B7A9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706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W13 悼念 43.6%  →  W19 玩梗 8.6%  →  W22 玩梗 63.0%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DAD30-27A2-402F-9D26-24059465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706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分母为五类有效内容（含营销、其他）；图中仅显示三类表征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F352F-8322-4FF6-9485-52FA6F42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机制建模｜可见性—表达—内容回流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68F19-B6A5-4421-96A1-2C5D1486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7647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固定群体：营销 23 / 悼念 22 / 其他 21 / 玩梗 19 / 教育 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FEB5F-17D3-47FD-9834-ACA5147B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90825"/>
            <a:ext cx="666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平台分发 Γ → 个体信息流 → 表达决策 U</a:t>
            </a:r>
          </a:p>
          <a:p xmlns:a="http://schemas.openxmlformats.org/drawingml/2006/main">
            <a:pPr>
              <a:defRPr sz="2025" b="1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生成文本回流内容池，进入下一轮分发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8F990-640F-45C0-82DA-0E09C5D3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05225"/>
            <a:ext cx="666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U = B + R(D − B)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4170C-A919-44D8-A15C-4FC0848C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14825"/>
            <a:ext cx="666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B 常态表达锚点；D 同类内容可见度形成的意见气候；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R 随累计同类曝光衰减的注意力余量。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达到个体门槛后，由 LLM 依人设和所见内容生成表达。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F15E5-A99C-4967-ABF9-2A1CDB9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149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基线：W05–W12 固定 B；标定：W13–W18；</a:t>
            </a:r>
          </a:p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后段检查：W19–W22。类型固定，检验群体构成效应。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609600" y="6372225"/>
          <a:ext xmlns:a="http://schemas.openxmlformats.org/drawingml/2006/main" cx="14020800" cy="12287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667250"/>
                <a:gridCol w="4676775"/>
                <a:gridCol w="4676775"/>
              </a:tblGrid>
              <a:tr h="409575">
                <a:tc>
                  <a:txBody>
                    <a:bodyPr lIns="123825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全历史随机</a:t>
                      </a:r>
                    </a:p>
                  </a:txBody>
                  <a:tcPr marL="91440" marR="91440" marT="45720" marB="45720" anchor="ctr">
                    <a:solidFill>
                      <a:srgbClr val="161616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小时级时序</a:t>
                      </a:r>
                    </a:p>
                  </a:txBody>
                  <a:tcPr marL="91440" marR="91440" marT="45720" marB="45720" anchor="ctr">
                    <a:solidFill>
                      <a:srgbClr val="161616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纯兴趣匹配</a:t>
                      </a:r>
                    </a:p>
                  </a:txBody>
                  <a:tcPr marL="91440" marR="91440" marT="45720" marB="45720" anchor="ctr">
                    <a:solidFill>
                      <a:srgbClr val="161616"/>
                    </a:solidFill>
                  </a:tcPr>
                </a:tc>
              </a:tr>
              <a:tr h="409575">
                <a:tc>
                  <a:txBody>
                    <a:bodyPr lIns="123825" tIns="66675" rIns="95250" bIns="66675"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截至当周全部帖子均匀抽取 10 条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按真实到达与行动时间取最新 10 条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类型词表 × 文本特征；保留生命周期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</a:tr>
              <a:tr h="409575">
                <a:tc>
                  <a:txBody>
                    <a:bodyPr lIns="123825" tIns="66675" rIns="95250" bIns="66675"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去策展反事实；无时间 / 热度加权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小时内同步；跨小时新内容可见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个性化选择性曝光；无热度项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1EC51-CE0E-41AD-BB1F-07387908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53350"/>
            <a:ext cx="1362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实验规模：100 个智能体 × 11 周 × 3 制度 × 3 seeds = 9,900 个智能体—周机会；同 seed 跨制度匹配注入样本</a:t>
            </a:r>
          </a:p>
        </p:txBody>
      </p:sp>
    </p:spTree>
    <p:extLst>
      <p:ext uri="{BB962C8B-B14F-4D97-AF65-F5344CB8AC3E}">
        <p14:creationId xmlns:p14="http://schemas.microsoft.com/office/powerpoint/2010/main" val="426080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6AD855-5FC1-4A9B-8F9B-5B4F5321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402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主要结果：策展制度改变表征演化轨迹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405CF-DF40-4251-A277-2386E29A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正式实验：9 / 9 runs 完成，生成 1,904 条 Agent 帖；三臂均在 W20 起出现玩梗供给增长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DB1FB-7C26-4F61-B46C-9274E28F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8096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02 /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C4FBC-B94B-4ACA-A201-2857FDC0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玩梗供给份额｜现实基准与 Agent-only 仿真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33400" y="2333625"/>
          <a:ext xmlns:a="http://schemas.openxmlformats.org/drawingml/2006/main" cx="725805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2b53866d2d47d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3BA31-191C-49A1-8624-B9D230B6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W22 终点：现实 63.0%；随机 44.3%；时序 / 兴趣均 83.9%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09600" y="6019800"/>
          <a:ext xmlns:a="http://schemas.openxmlformats.org/drawingml/2006/main" cx="7105650" cy="1285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1466850"/>
                <a:gridCol w="1485900"/>
                <a:gridCol w="1485900"/>
              </a:tblGrid>
              <a:tr h="428625">
                <a:tc>
                  <a:txBody>
                    <a:bodyPr lIns="123825" tIns="66675" rIns="95250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五类轨迹 DTW 距离 ↓</a:t>
                      </a:r>
                    </a:p>
                  </a:txBody>
                  <a:tcPr marL="91440" marR="91440" marT="45720" marB="45720" anchor="ctr">
                    <a:solidFill>
                      <a:srgbClr val="161616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随机</a:t>
                      </a:r>
                    </a:p>
                  </a:txBody>
                  <a:tcPr marL="91440" marR="91440" marT="45720" marB="45720" anchor="ctr">
                    <a:solidFill>
                      <a:srgbClr val="161616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时序</a:t>
                      </a:r>
                    </a:p>
                  </a:txBody>
                  <a:tcPr marL="91440" marR="91440" marT="45720" marB="45720" anchor="ctr">
                    <a:solidFill>
                      <a:srgbClr val="161616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兴趣</a:t>
                      </a:r>
                    </a:p>
                  </a:txBody>
                  <a:tcPr marL="91440" marR="91440" marT="45720" marB="45720" anchor="ctr">
                    <a:solidFill>
                      <a:srgbClr val="161616"/>
                    </a:solidFill>
                  </a:tcPr>
                </a:tc>
              </a:tr>
              <a:tr h="428625">
                <a:tc>
                  <a:txBody>
                    <a:bodyPr lIns="123825" tIns="66675" rIns="95250" bIns="66675"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3-seed 均值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23.7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27.0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22.0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</a:tr>
              <a:tr h="428625">
                <a:tc>
                  <a:txBody>
                    <a:bodyPr lIns="123825" tIns="66675" rIns="95250" bIns="66675"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seed 范围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19.9–26.9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24.3–30.6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19.6–24.3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58A8E-42DA-46C5-91E5-3A556F76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48550"/>
            <a:ext cx="7191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兴趣平均距离最低，但与随机范围重叠；两臂不可据此判显著。</a:t>
            </a:r>
          </a:p>
          <a:p xmlns:a="http://schemas.openxmlformats.org/drawingml/2006/main">
            <a:pPr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时序 / 兴趣高估后段幅度，复现相位不等于精确复现现实。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80A65-D6D3-4DC5-B29E-CC8087C2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47850"/>
            <a:ext cx="641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可见性配置与表达响应的耦合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16A5D-E03B-42BC-80AA-803F9254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52675"/>
            <a:ext cx="6419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W22 时序的总体玩梗曝光更高（71.2% vs 59.9%），</a:t>
            </a:r>
          </a:p>
          <a:p xmlns:a="http://schemas.openxmlformats.org/drawingml/2006/main">
            <a:pPr>
              <a:defRPr sz="1725" b="0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兴趣下玩梗群体却更活跃（发言率 91.2% vs 82.5%）。</a:t>
            </a:r>
          </a:p>
          <a:p xmlns:a="http://schemas.openxmlformats.org/drawingml/2006/main">
            <a:pPr>
              <a:defRPr sz="1725" b="0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个性化配置改变表达响应；总体曝光量不足以解释差异。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CF16A-8F3A-4E7E-91F4-E1D500C1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81400"/>
            <a:ext cx="641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机制消融｜100 个配对 seeds 的数值代理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8210550" y="4057650"/>
          <a:ext xmlns:a="http://schemas.openxmlformats.org/drawingml/2006/main" cx="6419850" cy="16764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09725"/>
                <a:gridCol w="3152775"/>
                <a:gridCol w="1657350"/>
              </a:tblGrid>
              <a:tr h="419100">
                <a:tc>
                  <a:txBody>
                    <a:bodyPr lIns="123825" tIns="66675" rIns="95250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移除项</a:t>
                      </a:r>
                    </a:p>
                  </a:txBody>
                  <a:tcPr marL="91440" marR="91440" marT="45720" marB="45720" anchor="ctr">
                    <a:solidFill>
                      <a:srgbClr val="161616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相对完整模型的变化</a:t>
                      </a:r>
                    </a:p>
                  </a:txBody>
                  <a:tcPr marL="91440" marR="91440" marT="45720" marB="45720" anchor="ctr">
                    <a:solidFill>
                      <a:srgbClr val="161616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作用解释</a:t>
                      </a:r>
                    </a:p>
                  </a:txBody>
                  <a:tcPr marL="91440" marR="91440" marT="45720" marB="45720" anchor="ctr">
                    <a:solidFill>
                      <a:srgbClr val="161616"/>
                    </a:solidFill>
                  </a:tcPr>
                </a:tc>
              </a:tr>
              <a:tr h="419100">
                <a:tc>
                  <a:txBody>
                    <a:bodyPr lIns="123825" tIns="66675" rIns="95250" bIns="66675"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 常态锚点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后期全体发言率 −12.0 pp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维持常态供给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</a:tr>
              <a:tr h="419100">
                <a:tc>
                  <a:txBody>
                    <a:bodyPr lIns="123825" tIns="66675" rIns="95250" bIns="66675"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 意见气候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后期玩梗发言率 −70.4 pp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选择性激活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19100">
                <a:tc>
                  <a:txBody>
                    <a:bodyPr lIns="123825" tIns="66675" rIns="95250" bIns="66675"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 注意力余量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中期全体发言率 +43.2 pp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 lIns="123825" tIns="66675" rIns="95250" bIns="66675"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驱动事件退潮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246D4-3DEA-4925-AB21-CE490D68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857875"/>
            <a:ext cx="641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后期 W20–W22；中期 W16–W19。消融未调用 LLM。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30E527-00F6-4F20-B173-C95C65ED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343650"/>
            <a:ext cx="641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当前贡献与下一步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0FC03-0C7E-4CF3-936C-AE9EAB27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800850"/>
            <a:ext cx="64198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已完成：现实轨迹、可追溯仿真闭环、制度反事实与机制消融。</a:t>
            </a:r>
          </a:p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证据边界：含现实注入；三臂比较完整制度，非纯排序效应。</a:t>
            </a:r>
          </a:p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61616"/>
                </a:solidFill>
                <a:latin typeface="PingFang SC"/>
                <a:ea typeface="PingFang SC"/>
                <a:cs typeface="PingFang SC"/>
              </a:rPr>
              <a:t>下一步：检查注入依赖、扩大重复与跨案例验证。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CBF74-3089-41D6-8F73-9D9EE7FB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81975"/>
            <a:ext cx="1274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注：现实按五类有效内容归一化；仿真折线为各臂 3-seed 均值。DTW 为五类周轨迹的受限动态时间规整距离（越低越好）。</a:t>
            </a:r>
          </a:p>
        </p:txBody>
      </p:sp>
    </p:spTree>
    <p:extLst>
      <p:ext uri="{BB962C8B-B14F-4D97-AF65-F5344CB8AC3E}">
        <p14:creationId xmlns:p14="http://schemas.microsoft.com/office/powerpoint/2010/main" val="8379685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2026-09-22T02:12:22.5370000Z</dcterms:created>
  <dcterms:modified xsi:type="dcterms:W3CDTF">2026-09-22T02:12:22.5370000Z</dcterms:modified>
</coreProperties>
</file>